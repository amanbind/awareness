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1097280"/>
            <a:ext cx="7589520" cy="475488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86868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SECURITY AWARENESS TOOL  ·  INTERNAL PRESENTATION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Georgia"/>
              </a:rPr>
              <a:t>Phishing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889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1">
                <a:solidFill>
                  <a:srgbClr val="F0C842"/>
                </a:solidFill>
                <a:latin typeface="Georgia"/>
              </a:rPr>
              <a:t>Awareness Newsletter Generator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3547872"/>
            <a:ext cx="14630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70332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Calibri"/>
              </a:rPr>
              <a:t>A zero-server, single-page tool that turns live security news into
polished, employee-ready awareness content — in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1874519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645152"/>
            <a:ext cx="1783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🗞  35+ Live Feeds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599" y="4617720"/>
            <a:ext cx="1874519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1" y="4645152"/>
            <a:ext cx="1783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🎨  12 Templates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38" y="4617720"/>
            <a:ext cx="1874519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0" y="4645152"/>
            <a:ext cx="1783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🤖  AI Summaries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7" y="4617720"/>
            <a:ext cx="1874519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29" y="4645152"/>
            <a:ext cx="1783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🔒  No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6" y="4617720"/>
            <a:ext cx="1874519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68" y="4645152"/>
            <a:ext cx="1783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🌍  10 Countries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Security teams waste hours building awareness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2651760" cy="4114800"/>
          </a:xfrm>
          <a:prstGeom prst="rect">
            <a:avLst/>
          </a:prstGeom>
          <a:solidFill>
            <a:srgbClr val="200808"/>
          </a:solidFill>
          <a:ln w="10160">
            <a:solidFill>
              <a:srgbClr val="6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70"/>
                </a:solidFill>
                <a:latin typeface="Calibri"/>
              </a:rPr>
              <a:t>Time-consuming curation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Manually monitoring dozens of CERT alerts, vendor blogs, and news sites every week to find employee-relevant stories.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8728" y="1737360"/>
            <a:ext cx="2651760" cy="4114800"/>
          </a:xfrm>
          <a:prstGeom prst="rect">
            <a:avLst/>
          </a:prstGeom>
          <a:solidFill>
            <a:srgbClr val="200808"/>
          </a:solidFill>
          <a:ln w="10160">
            <a:solidFill>
              <a:srgbClr val="6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395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70"/>
                </a:solidFill>
                <a:latin typeface="Calibri"/>
              </a:rPr>
              <a:t>Wrong content for the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83464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Raw CVE advisories don't resonate with general staff. Content needs to be human-readable and immediately actionable.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1737360"/>
            <a:ext cx="2651760" cy="4114800"/>
          </a:xfrm>
          <a:prstGeom prst="rect">
            <a:avLst/>
          </a:prstGeom>
          <a:solidFill>
            <a:srgbClr val="200808"/>
          </a:solidFill>
          <a:ln w="10160">
            <a:solidFill>
              <a:srgbClr val="6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395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70"/>
                </a:solidFill>
                <a:latin typeface="Calibri"/>
              </a:rPr>
              <a:t>No quick formatting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83464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Teams resort to Word docs, copy-paste from email, or expensive platforms just to produce a simple weekly bulletin.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27464" y="1737360"/>
            <a:ext cx="2651760" cy="4114800"/>
          </a:xfrm>
          <a:prstGeom prst="rect">
            <a:avLst/>
          </a:prstGeom>
          <a:solidFill>
            <a:srgbClr val="200808"/>
          </a:solidFill>
          <a:ln w="10160">
            <a:solidFill>
              <a:srgbClr val="6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2395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70"/>
                </a:solidFill>
                <a:latin typeface="Calibri"/>
              </a:rPr>
              <a:t>Inconsistent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283464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Awareness campaigns go dark for months because creating each send takes too long — eroding the security culture.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One screen. Zero server. Under 5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0C842"/>
                </a:solidFill>
                <a:latin typeface="Georgia"/>
              </a:rPr>
              <a:t>"Credible sources  →  filtered for real people  →
ready-to-send awareness — in one screen."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4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A single index.html file with vanilla JavaScript — no build step, no npm, no server.
Open it in any modern browser and go from zero to a branded newsletter in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069080"/>
            <a:ext cx="2011680" cy="365760"/>
          </a:xfrm>
          <a:prstGeom prst="rect">
            <a:avLst/>
          </a:prstGeom>
          <a:solidFill>
            <a:srgbClr val="1A1200"/>
          </a:solidFill>
          <a:ln w="10160">
            <a:solidFill>
              <a:srgbClr val="604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9651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420"/>
                </a:solidFill>
                <a:latin typeface="Calibri"/>
              </a:rPr>
              <a:t>✦  No Build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9504" y="4069080"/>
            <a:ext cx="2011680" cy="365760"/>
          </a:xfrm>
          <a:prstGeom prst="rect">
            <a:avLst/>
          </a:prstGeom>
          <a:solidFill>
            <a:srgbClr val="1A1200"/>
          </a:solidFill>
          <a:ln w="10160">
            <a:solidFill>
              <a:srgbClr val="604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409651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420"/>
                </a:solidFill>
                <a:latin typeface="Calibri"/>
              </a:rPr>
              <a:t>✦  Works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069080"/>
            <a:ext cx="2011680" cy="365760"/>
          </a:xfrm>
          <a:prstGeom prst="rect">
            <a:avLst/>
          </a:prstGeom>
          <a:solidFill>
            <a:srgbClr val="1A1200"/>
          </a:solidFill>
          <a:ln w="10160">
            <a:solidFill>
              <a:srgbClr val="604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409651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420"/>
                </a:solidFill>
                <a:latin typeface="Calibri"/>
              </a:rPr>
              <a:t>✦  Air-Gap 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8896" y="4069080"/>
            <a:ext cx="2011680" cy="365760"/>
          </a:xfrm>
          <a:prstGeom prst="rect">
            <a:avLst/>
          </a:prstGeom>
          <a:solidFill>
            <a:srgbClr val="1A1200"/>
          </a:solidFill>
          <a:ln w="10160">
            <a:solidFill>
              <a:srgbClr val="604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409651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420"/>
                </a:solidFill>
                <a:latin typeface="Calibri"/>
              </a:rPr>
              <a:t>✦  Browser-Only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08592" y="4069080"/>
            <a:ext cx="2011680" cy="365760"/>
          </a:xfrm>
          <a:prstGeom prst="rect">
            <a:avLst/>
          </a:prstGeom>
          <a:solidFill>
            <a:srgbClr val="1A1200"/>
          </a:solidFill>
          <a:ln w="10160">
            <a:solidFill>
              <a:srgbClr val="6048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409651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420"/>
                </a:solidFill>
                <a:latin typeface="Calibri"/>
              </a:rPr>
              <a:t>✦  Auditable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Six features that do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749039" cy="219456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1965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35 Trusted RSS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34747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Government CERTs (CISA, NCSC, ENISA), major security vendors, and journalism — all in one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7" y="1691640"/>
            <a:ext cx="3749039" cy="219456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7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7" y="181965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Employee-Relevant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7" y="2258568"/>
            <a:ext cx="34747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Automatically keeps phishing, scam, MFA, breach &amp; social engineering. Skips patch-only noise.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4" y="1691640"/>
            <a:ext cx="3749039" cy="219456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4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9094" y="181965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Local Database (IndexedDB)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4" y="2258568"/>
            <a:ext cx="34747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Articles persist for 90 days with deduplication. Works offline with full feed match stats.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3749039" cy="219456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78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9709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 AI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36008"/>
            <a:ext cx="34747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Claude or OpenAI for plain-language summaries &amp; tips — or built-in local summariser, no key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7" y="4069080"/>
            <a:ext cx="3749039" cy="219456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7" y="4178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7" y="419709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12 Newsletter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7" y="4636008"/>
            <a:ext cx="34747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Professional layouts inspired by JPMorgan, KnowBe4, Proofpoint &amp; more. Your branding baked 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4" y="4069080"/>
            <a:ext cx="3749039" cy="219456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4" y="4178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4" y="4197096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QR Codes &amp; Report CTAs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4" y="4636008"/>
            <a:ext cx="34747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Optional portal QR and 'report suspicious' blocks drive real security behaviour every send.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5-step workflow, start to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691640"/>
            <a:ext cx="960120" cy="96012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1947672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420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18688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Set org name, SOC mailbox, portal URL, frequency, article limit &amp; classification.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1691640"/>
            <a:ext cx="960120" cy="96012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171907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947672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420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7889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Fetch 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3218688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Parallel RSS fetch from 35+ feeds with proxy fallbacks. Live status per source.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1691640"/>
            <a:ext cx="960120" cy="96012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171907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47672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42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7889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Filter by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3218688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7 / 14 / 30 / 90 days or all stored. Type chips: Phishing, Breaches, MFA, etc.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1691640"/>
            <a:ext cx="960120" cy="96012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2" y="171907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1947672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420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27889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Select Articles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218688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Click to pick stories up to your limit. AI summaries &amp; tips appear inline.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86416" y="1691640"/>
            <a:ext cx="960120" cy="96012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86416" y="1719072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278892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Generate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3218688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Preview HTML, edit visually, copy to clipboard or paste into Outlook / CMS.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⏱  Under 5 minutes from opening the tool to a ready-to-send, branded newsletter.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NEWSLETTER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12 layouts for every audience &amp;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64208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773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Corporate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671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JPMorgan/Barclays dark header + gold accents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664208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73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17556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Training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671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KnowBe4 red header + green callout boxes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1664208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773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17556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Team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1671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Speech bubbles — conversational for all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664208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773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17556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Spot the Phish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1671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Infographic — stats, red flags vs safe habits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980944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090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723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Safety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4838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Numbered rules poster — big text, print-ready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3552" y="2980944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090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30723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Red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4838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Proofpoint — 8 phishing red flags checklist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35624" y="2980944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3090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30723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Stop·Look·Report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34838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Safety poster — 3 bold red/amber/green panels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97696" y="2980944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3090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30723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Email Anatomy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4838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Phishing email dissection with red flag labels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297680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4407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✗✓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389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Do vs Don't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4800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Two-column split — red don'ts &amp; green dos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3552" y="4297680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407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6472" y="4389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Threat Spotlight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800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Magazine style — attacker tactics + defence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35624" y="4297680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4407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8544" y="4389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Incident Alert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4800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Urgent timeline — active threats, status badges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97696" y="4297680"/>
            <a:ext cx="2743200" cy="118872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4407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0616" y="43891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Would You Spot It?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07424" y="4800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Quiz scenarios — test yourself with real threats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INTELLIGENCE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35+ trusted feeds — automatically curated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3566160" cy="457200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420"/>
                </a:solidFill>
                <a:latin typeface="Calibri"/>
              </a:rPr>
              <a:t>Government CERTs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CISA (US)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NCSC (UK)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ENISA (EU)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ASD / ACSC (AU)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CCCS (Canada)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CERT-In (India)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CERT-NZ (NZ)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BSI (Germany)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64208"/>
            <a:ext cx="3566160" cy="457200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7830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420"/>
                </a:solidFill>
                <a:latin typeface="Calibri"/>
              </a:rPr>
              <a:t>Security Vendors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3172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Microsoft Security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Google Project Zero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Proofpoint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KnowBe4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Sophos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Palo Alto Unit 42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Mandiant / Google TAG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Cisco Talos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664208"/>
            <a:ext cx="3566160" cy="457200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17830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420"/>
                </a:solidFill>
                <a:latin typeface="Calibri"/>
              </a:rPr>
              <a:t>Security Journalism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33172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Krebs on Security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Bleeping Computer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Dark Reading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The Hacker News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SC Magazine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Naked Security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Troy Hunt (HIBP)</a:t>
            </a:r>
          </a:p>
          <a:p>
            <a:pPr algn="l" lvl="1"/>
            <a:r>
              <a:rPr sz="1150" b="0">
                <a:solidFill>
                  <a:srgbClr val="CCCCCC"/>
                </a:solidFill>
                <a:latin typeface="Calibri"/>
              </a:rPr>
              <a:t>• Help Net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Every fetch runs in parallel with proxy fallbacks — live status per feed shown in the sidebar.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INTELLIGENCE LAYER — AI &amp; LOCAL SUMMARIES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AI summaries that speak human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64208"/>
            <a:ext cx="5577840" cy="4663440"/>
          </a:xfrm>
          <a:prstGeom prst="rect">
            <a:avLst/>
          </a:prstGeom>
          <a:solidFill>
            <a:srgbClr val="181200"/>
          </a:solidFill>
          <a:ln w="10160">
            <a:solidFill>
              <a:srgbClr val="604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420"/>
                </a:solidFill>
                <a:latin typeface="Calibri"/>
              </a:rPr>
              <a:t>✦  AI-Powered (Claude / GPT-4o)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Add an optional API key for rich, plain-language summaries
and contextualised security tips per article.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Plain-English rewrite of technical findings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3–5 actionable 'What to do' tips per story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Tailored to a non-technical audience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Auto-translate via Google Translate API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Tips saved to IndexedDB — persist across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64208"/>
            <a:ext cx="5486400" cy="4663440"/>
          </a:xfrm>
          <a:prstGeom prst="rect">
            <a:avLst/>
          </a:prstGeom>
          <a:solidFill>
            <a:srgbClr val="101010"/>
          </a:solidFill>
          <a:ln w="1016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⚙  Built-in Local Summariser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No API key required. Extracts key sentences and generates
security tips automatically — completely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175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Works in air-gapped environments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Zero cost — zero data leaving the browser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Instant results — no round-trip latency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Same tip categories: Phishing, Breach, MFA…</a:t>
            </a:r>
          </a:p>
          <a:p>
            <a:pPr algn="l" lvl="1"/>
            <a:r>
              <a:rPr sz="1200" b="0">
                <a:solidFill>
                  <a:srgbClr val="CCCCCC"/>
                </a:solidFill>
                <a:latin typeface="Calibri"/>
              </a:rPr>
              <a:t>• Summaries stored in IndexedDB for re-use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PRIVACY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Built for security-conscious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64208"/>
            <a:ext cx="3657600" cy="1920240"/>
          </a:xfrm>
          <a:prstGeom prst="rect">
            <a:avLst/>
          </a:prstGeom>
          <a:solidFill>
            <a:srgbClr val="08180E"/>
          </a:solidFill>
          <a:ln w="10160">
            <a:solidFill>
              <a:srgbClr val="14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739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739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Calibri"/>
              </a:rPr>
              <a:t>Keys Stay in Your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API keys (Claude, OpenAI, Google Translate) stored only in localStorage — never sent to any intermediary.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64208"/>
            <a:ext cx="3657600" cy="1920240"/>
          </a:xfrm>
          <a:prstGeom prst="rect">
            <a:avLst/>
          </a:prstGeom>
          <a:solidFill>
            <a:srgbClr val="08180E"/>
          </a:solidFill>
          <a:ln w="10160">
            <a:solidFill>
              <a:srgbClr val="14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739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739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Calibri"/>
              </a:rPr>
              <a:t>No Vendor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1284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Pure static HTML + vanilla JS. No telemetry, no sign-up, no external dependency beyond the RSS feeds.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64208"/>
            <a:ext cx="3657600" cy="1920240"/>
          </a:xfrm>
          <a:prstGeom prst="rect">
            <a:avLst/>
          </a:prstGeom>
          <a:solidFill>
            <a:srgbClr val="08180E"/>
          </a:solidFill>
          <a:ln w="10160">
            <a:solidFill>
              <a:srgbClr val="14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7739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7739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Calibri"/>
              </a:rPr>
              <a:t>Air-Gap / Intranet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1284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Serves as a static site. Drop it on an internal server or shared drive — no internet required after first 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21608"/>
            <a:ext cx="3657600" cy="1920240"/>
          </a:xfrm>
          <a:prstGeom prst="rect">
            <a:avLst/>
          </a:prstGeom>
          <a:solidFill>
            <a:srgbClr val="08180E"/>
          </a:solidFill>
          <a:ln w="10160">
            <a:solidFill>
              <a:srgbClr val="14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31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313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Calibri"/>
              </a:rPr>
              <a:t>Explicit, Honest Curation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7024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Transparent filtering: only employee-relevant, data-privacy-angle stories — stakeholders trust the signal.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721608"/>
            <a:ext cx="3657600" cy="1920240"/>
          </a:xfrm>
          <a:prstGeom prst="rect">
            <a:avLst/>
          </a:prstGeom>
          <a:solidFill>
            <a:srgbClr val="08180E"/>
          </a:solidFill>
          <a:ln w="10160">
            <a:solidFill>
              <a:srgbClr val="14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31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8313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Calibri"/>
              </a:rPr>
              <a:t>Classification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7024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Every newsletter embeds your chosen classification (RESTRICTED / INTERNAL / CONFIDENTIAL).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721608"/>
            <a:ext cx="3657600" cy="1920240"/>
          </a:xfrm>
          <a:prstGeom prst="rect">
            <a:avLst/>
          </a:prstGeom>
          <a:solidFill>
            <a:srgbClr val="08180E"/>
          </a:solidFill>
          <a:ln w="10160">
            <a:solidFill>
              <a:srgbClr val="14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3831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83133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Calibri"/>
              </a:rPr>
              <a:t>No Build Toolchain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27024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Vanilla JS modules, zero npm, zero bundler. Auditable by anyone — open index.html and read the code.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WHO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Built for three core audiences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3566160" cy="457200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01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Security &amp; GRC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Run weekly or monthly bulletins without writing from scratch. Stay consistent and on-brand without a design department.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Reduces time-per-send from hours to minutes</a:t>
            </a:r>
          </a:p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Consistent branding and classification on every send</a:t>
            </a:r>
          </a:p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Credible sources automatically curated for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664208"/>
            <a:ext cx="3566160" cy="457200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801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801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 &amp; SOC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359152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Translate timely threat intelligence into staff-facing communications — bridging the gap between technical and human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429000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Converts raw feed data into plain-English alerts</a:t>
            </a:r>
          </a:p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Ties real incidents to employee action items</a:t>
            </a:r>
          </a:p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Live feed status shows what's happening 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664208"/>
            <a:ext cx="3566160" cy="4572000"/>
          </a:xfrm>
          <a:prstGeom prst="rect">
            <a:avLst/>
          </a:prstGeom>
          <a:solidFill>
            <a:srgbClr val="101010"/>
          </a:solidFill>
          <a:ln w="635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01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18013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MSPs &amp; Consultants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59152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Deliver polished awareness programs for multiple clients with a single tool. Customise branding per org with no overhead.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429000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Per-org config: name, logo, SOC email, portal</a:t>
            </a:r>
          </a:p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12 templates to vary content across clients</a:t>
            </a:r>
          </a:p>
          <a:p>
            <a:pPr algn="l" lvl="1"/>
            <a:r>
              <a:rPr sz="1100" b="0">
                <a:solidFill>
                  <a:srgbClr val="CCCCCC"/>
                </a:solidFill>
                <a:latin typeface="Calibri"/>
              </a:rPr>
              <a:t>• Zero marginal cost per additional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420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Georgia"/>
              </a:rPr>
              <a:t>Turn live security intelligence into employee-ready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F0C842"/>
                </a:solidFill>
                <a:latin typeface="Georgia"/>
              </a:rPr>
              <a:t>— in one screen, in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48640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783080" cy="13716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420"/>
                </a:solidFill>
                <a:latin typeface="Georgia"/>
              </a:rPr>
              <a:t>35+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Trusted RSS feeds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2" y="2194560"/>
            <a:ext cx="1783080" cy="13716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22860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420"/>
                </a:solidFill>
                <a:latin typeface="Georg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8803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Newsletter 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2194560"/>
            <a:ext cx="1783080" cy="13716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22860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420"/>
                </a:solidFill>
                <a:latin typeface="Georgia"/>
              </a:rPr>
              <a:t>90d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8803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Article retention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2194560"/>
            <a:ext cx="1783080" cy="13716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2860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420"/>
                </a:solidFill>
                <a:latin typeface="Georg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803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Servers 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3608" y="2194560"/>
            <a:ext cx="1783080" cy="13716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2860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420"/>
                </a:solidFill>
                <a:latin typeface="Georgia"/>
              </a:rPr>
              <a:t>&lt;5m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8803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Time to send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2194560"/>
            <a:ext cx="1783080" cy="1371600"/>
          </a:xfrm>
          <a:prstGeom prst="rect">
            <a:avLst/>
          </a:prstGeom>
          <a:solidFill>
            <a:srgbClr val="141414"/>
          </a:solidFill>
          <a:ln w="63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28600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420"/>
                </a:solidFill>
                <a:latin typeface="Georgia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8803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Country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49039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📡  35+ trusted government, vendor &amp; journalism RSS feeds — no manual monitoring</a:t>
            </a:r>
          </a:p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🔍  Employee-relevant filter removes CVE-only noise — human-facing stories only</a:t>
            </a:r>
          </a:p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🤖  AI summaries (Claude / GPT-4o) or built-in local engine — no API key required</a:t>
            </a:r>
          </a:p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🎨  12 branded newsletter templates — polished output in Outlook, CMS, or PDF</a:t>
            </a:r>
          </a:p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🔒  Zero server, zero telemetry — keys stay in your browser, works fully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Credible sources  ·  Filtered for real people  ·  Ready to send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C0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